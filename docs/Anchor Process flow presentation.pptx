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Githaka" userId="d2ca652f-80d8-4e43-b4bb-469334e18bcb" providerId="ADAL" clId="{F6A84CF3-1885-4FA5-87BF-E7B2E2ABD895}"/>
    <pc:docChg chg="custSel modSld">
      <pc:chgData name="Peter Githaka" userId="d2ca652f-80d8-4e43-b4bb-469334e18bcb" providerId="ADAL" clId="{F6A84CF3-1885-4FA5-87BF-E7B2E2ABD895}" dt="2025-11-12T05:47:43.828" v="208" actId="1038"/>
      <pc:docMkLst>
        <pc:docMk/>
      </pc:docMkLst>
      <pc:sldChg chg="addSp delSp modSp mod">
        <pc:chgData name="Peter Githaka" userId="d2ca652f-80d8-4e43-b4bb-469334e18bcb" providerId="ADAL" clId="{F6A84CF3-1885-4FA5-87BF-E7B2E2ABD895}" dt="2025-11-12T05:47:43.828" v="208" actId="1038"/>
        <pc:sldMkLst>
          <pc:docMk/>
          <pc:sldMk cId="3721457373" sldId="257"/>
        </pc:sldMkLst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2" creationId="{49AD918B-3943-8595-57B3-4BB57E630392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4" creationId="{2FEE19D7-DB3D-F426-672D-EF0F8792D9D0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5" creationId="{7D7B8FDC-CF3F-6AD7-BF5D-C06B1436591D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6" creationId="{7A9F663A-EFDC-5B9F-A4A3-9C07A819B4E5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8" creationId="{BF36F5C1-DF46-47A0-B109-EA7EF153A09F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10" creationId="{DAA30DFC-0C21-BCC3-87B6-7528059778B5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11" creationId="{B2F3F00F-046D-4D51-04F7-83ADE220F524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12" creationId="{4B84E5E9-EF1B-64D6-114E-09C6CA2B24B9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22" creationId="{C199754B-D708-46DE-94DA-B48BF28EE221}"/>
          </ac:spMkLst>
        </pc:spChg>
        <pc:spChg chg="mod">
          <ac:chgData name="Peter Githaka" userId="d2ca652f-80d8-4e43-b4bb-469334e18bcb" providerId="ADAL" clId="{F6A84CF3-1885-4FA5-87BF-E7B2E2ABD895}" dt="2025-11-12T05:47:43.828" v="208" actId="1038"/>
          <ac:spMkLst>
            <pc:docMk/>
            <pc:sldMk cId="3721457373" sldId="257"/>
            <ac:spMk id="23" creationId="{11ED4455-4885-BAB5-52D7-86174C8151E8}"/>
          </ac:spMkLst>
        </pc:spChg>
        <pc:spChg chg="mod">
          <ac:chgData name="Peter Githaka" userId="d2ca652f-80d8-4e43-b4bb-469334e18bcb" providerId="ADAL" clId="{F6A84CF3-1885-4FA5-87BF-E7B2E2ABD895}" dt="2025-11-12T05:47:17.492" v="140" actId="20577"/>
          <ac:spMkLst>
            <pc:docMk/>
            <pc:sldMk cId="3721457373" sldId="257"/>
            <ac:spMk id="25" creationId="{D469BC3B-FBB7-CAC1-4419-9F8E712D5C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9955-CD3F-CA08-7C12-5B6122578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4A936-CA10-6603-FBEF-3721B8ACD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9DBE8-E4ED-DA63-3B6B-C62A898A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05312-9E2F-794A-8D18-37430B9A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B8C2-3314-AE25-B74B-D6218BA4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4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7EBE-E00C-FA2E-BE8A-18A97F8D3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D0758-52FF-9ABE-0288-936A5C58B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45A7D-CEAE-3688-FACF-0E324399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59C39-ED7E-EB20-7425-52AF436E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0EC11-394D-FD09-E1F3-BE40D099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0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6638-1E48-6968-7C18-C5646651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6A8ED-92C6-9154-D1D5-86DFC9783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E8155-F925-67E2-D655-2CC8ECB4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DC455-F18E-B147-B92F-AC463ABC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A9F13-EA55-927D-993C-9FD5AC56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5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E90C-5EF8-BB21-2119-39EE209B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2B010-08F4-EA84-2ED2-1CBA0F1D6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22A47-6A3E-6376-5B62-E2E1F3111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593A-95F4-2365-7F6B-D2084E0B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6B099-59DD-060C-A510-B2B0358A0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8685B-B8D9-4B97-37C9-721E10F9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3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857A-CEE3-BE68-1555-D48B16C8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6CCDF-49B6-CC31-F4DE-F5829825E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36C15-5FC3-DA18-186B-41D8A30EA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B3F84-96E5-7035-9042-81EC2A648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E3097-99A3-30C4-D9E1-EE9296FA0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96CEF-C365-2E79-0A42-914A6C3F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8A3A2-2FEE-3605-683C-D8C1B802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AD49FE-BD14-E979-300E-0C4831D8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4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1455-808C-7996-3B70-E01BCCE96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91470-558A-8F93-5773-D210BBDD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D5876-E06B-37AE-00BB-C572ACF1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5DFDB-4E55-77C9-F0E0-065C37A0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63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EC0C5B-AF7A-1FA6-10BE-BFBFE485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F2AB8-43BC-88F2-E9F2-BDFEA7BA7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11389-13BC-3B87-5871-00017DF1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C8F0-2E6A-1812-9EF0-5A1BB136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DFC2D-D312-9695-9C09-BE7DF1181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F1FE1-EF34-5E33-6DA9-316FB376A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2915C-EA0E-FB1B-4EDF-70032A3C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36689-DB4D-1743-BA61-FC3CDDD3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9A84D-764A-543D-BDA4-F848704E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60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7801-053E-FF91-AA44-5273316C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CC601-EBAC-9F29-1DF5-A5BF7D735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E7469-9B46-4CB6-2C15-608C85D2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E2F7D-1E23-0A9F-62F4-7594C38E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8012C-7C1B-12A7-DE74-D4E3990B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16B39-992B-DC5F-5226-8EFD0AD7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2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D254-24A5-0E46-D0B7-80766413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3AE5C-BC02-18C1-B10C-314926DD8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711C7-B3AE-D577-01CB-1675F5385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7A510-BA8A-D9C6-AC66-44823F64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8FB26-68A5-A818-68A9-4D91A565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6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78C40-3A25-DDB2-46CA-229E2F9E1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B19A8-2D2B-D0B9-BF24-D183FA522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4467B-A127-3FDE-2E5D-5C0B9DA8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15F0-554A-C0E8-10EF-4BAA9A6D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982E-05FA-91CD-60C4-F1BFBC77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8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11ABA-1196-0F85-E5F6-144613BB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99883-ACF8-FB0A-FD06-9FABFDFD6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DD349-5A8A-A36B-02D7-D269C045E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79466-645A-48C4-B159-FE4E23A8085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B6F28-4EE8-A10D-A48E-504946312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7E83C-D20F-90CF-4E30-7136D09CB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E0AA6-587F-4FE6-A153-E543B958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1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-brown.png">
            <a:extLst>
              <a:ext uri="{FF2B5EF4-FFF2-40B4-BE49-F238E27FC236}">
                <a16:creationId xmlns:a16="http://schemas.microsoft.com/office/drawing/2014/main" id="{1FD46639-E306-0E2D-92DD-743B3EC20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753" y="265526"/>
            <a:ext cx="531883" cy="717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BAE36D-3656-7191-16D0-25FAC1CE8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792" y="939672"/>
            <a:ext cx="6134415" cy="4978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A7CBB4-FC79-F44F-F3F1-01A6BCDD7727}"/>
              </a:ext>
            </a:extLst>
          </p:cNvPr>
          <p:cNvSpPr txBox="1"/>
          <p:nvPr/>
        </p:nvSpPr>
        <p:spPr>
          <a:xfrm>
            <a:off x="2377440" y="161778"/>
            <a:ext cx="527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Previous Process</a:t>
            </a:r>
          </a:p>
        </p:txBody>
      </p:sp>
    </p:spTree>
    <p:extLst>
      <p:ext uri="{BB962C8B-B14F-4D97-AF65-F5344CB8AC3E}">
        <p14:creationId xmlns:p14="http://schemas.microsoft.com/office/powerpoint/2010/main" val="9279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1AF9B-0035-DC2F-80F0-24B749E2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-brown.png">
            <a:extLst>
              <a:ext uri="{FF2B5EF4-FFF2-40B4-BE49-F238E27FC236}">
                <a16:creationId xmlns:a16="http://schemas.microsoft.com/office/drawing/2014/main" id="{05E5E0FD-B2CB-1F05-EEB4-38EAB9A7B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753" y="265526"/>
            <a:ext cx="531883" cy="717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75F997-CABD-F77A-7CC0-A9710232C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435" y="1025401"/>
            <a:ext cx="6401129" cy="48071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936ACD-CB4C-1E90-498B-58AA4EAD55FB}"/>
              </a:ext>
            </a:extLst>
          </p:cNvPr>
          <p:cNvSpPr txBox="1"/>
          <p:nvPr/>
        </p:nvSpPr>
        <p:spPr>
          <a:xfrm>
            <a:off x="2841674" y="372794"/>
            <a:ext cx="539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Current Process</a:t>
            </a:r>
          </a:p>
        </p:txBody>
      </p:sp>
    </p:spTree>
    <p:extLst>
      <p:ext uri="{BB962C8B-B14F-4D97-AF65-F5344CB8AC3E}">
        <p14:creationId xmlns:p14="http://schemas.microsoft.com/office/powerpoint/2010/main" val="88370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7B5B-396E-2D1C-9585-30FC89E0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918B-3943-8595-57B3-4BB57E630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9982" y="709651"/>
            <a:ext cx="3617843" cy="325436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r>
              <a:rPr lang="en-US" sz="900" dirty="0">
                <a:latin typeface="Century Gothic" panose="020B0502020202020204" pitchFamily="34" charset="0"/>
              </a:rPr>
              <a:t>Credit Appraisal to onboard anchor – RM</a:t>
            </a:r>
            <a:br>
              <a:rPr lang="en-US" sz="900" dirty="0">
                <a:latin typeface="Century Gothic" panose="020B0502020202020204" pitchFamily="34" charset="0"/>
              </a:rPr>
            </a:br>
            <a:r>
              <a:rPr lang="en-US" sz="900" dirty="0">
                <a:latin typeface="Century Gothic" panose="020B0502020202020204" pitchFamily="34" charset="0"/>
              </a:rPr>
              <a:t>Includes Terms e.g. tenor, pricing, overall limit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EE19D7-DB3D-F426-672D-EF0F8792D9D0}"/>
              </a:ext>
            </a:extLst>
          </p:cNvPr>
          <p:cNvSpPr txBox="1">
            <a:spLocks/>
          </p:cNvSpPr>
          <p:nvPr/>
        </p:nvSpPr>
        <p:spPr>
          <a:xfrm>
            <a:off x="2179982" y="1351908"/>
            <a:ext cx="3617843" cy="32543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>
                <a:latin typeface="Century Gothic" panose="020B0502020202020204" pitchFamily="34" charset="0"/>
              </a:rPr>
              <a:t>Credit Application approved – CRM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7B8FDC-CF3F-6AD7-BF5D-C06B1436591D}"/>
              </a:ext>
            </a:extLst>
          </p:cNvPr>
          <p:cNvSpPr txBox="1">
            <a:spLocks/>
          </p:cNvSpPr>
          <p:nvPr/>
        </p:nvSpPr>
        <p:spPr>
          <a:xfrm>
            <a:off x="2179982" y="1994165"/>
            <a:ext cx="3617843" cy="32543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>
                <a:latin typeface="Century Gothic" panose="020B0502020202020204" pitchFamily="34" charset="0"/>
              </a:rPr>
              <a:t>Sign standard MOU – Ecosystem Team &amp; Legal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A9F663A-EFDC-5B9F-A4A3-9C07A819B4E5}"/>
              </a:ext>
            </a:extLst>
          </p:cNvPr>
          <p:cNvSpPr txBox="1">
            <a:spLocks/>
          </p:cNvSpPr>
          <p:nvPr/>
        </p:nvSpPr>
        <p:spPr>
          <a:xfrm>
            <a:off x="2179982" y="2626104"/>
            <a:ext cx="3617843" cy="32543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>
                <a:latin typeface="Century Gothic" panose="020B0502020202020204" pitchFamily="34" charset="0"/>
              </a:rPr>
              <a:t>Sign Standard MOU &amp; returns to Bank – Anchor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F23C53B-05F3-0FBD-16E5-1439959A31A9}"/>
              </a:ext>
            </a:extLst>
          </p:cNvPr>
          <p:cNvSpPr txBox="1">
            <a:spLocks/>
          </p:cNvSpPr>
          <p:nvPr/>
        </p:nvSpPr>
        <p:spPr>
          <a:xfrm>
            <a:off x="2186608" y="3265432"/>
            <a:ext cx="3617843" cy="32543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>
                <a:latin typeface="Century Gothic" panose="020B0502020202020204" pitchFamily="34" charset="0"/>
              </a:rPr>
              <a:t>Fill in [maker-checker] approved program set up form and send to Credit Ops –  Ecosystem team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36F5C1-DF46-47A0-B109-EA7EF153A09F}"/>
              </a:ext>
            </a:extLst>
          </p:cNvPr>
          <p:cNvSpPr txBox="1">
            <a:spLocks/>
          </p:cNvSpPr>
          <p:nvPr/>
        </p:nvSpPr>
        <p:spPr>
          <a:xfrm>
            <a:off x="2186608" y="3897371"/>
            <a:ext cx="3617843" cy="32543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>
                <a:latin typeface="Century Gothic" panose="020B0502020202020204" pitchFamily="34" charset="0"/>
              </a:rPr>
              <a:t>Set up partner and loan product in BOOSTA LMS [maker-checker] – Credit Ops</a:t>
            </a:r>
          </a:p>
        </p:txBody>
      </p:sp>
      <p:pic>
        <p:nvPicPr>
          <p:cNvPr id="9" name="Logo-brown.png">
            <a:extLst>
              <a:ext uri="{FF2B5EF4-FFF2-40B4-BE49-F238E27FC236}">
                <a16:creationId xmlns:a16="http://schemas.microsoft.com/office/drawing/2014/main" id="{EAF166BC-DF85-90BA-427D-2951278C8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753" y="265526"/>
            <a:ext cx="531883" cy="71782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F2F688E7-D149-FAB3-FD64-8542AB78ACF7}"/>
              </a:ext>
            </a:extLst>
          </p:cNvPr>
          <p:cNvSpPr/>
          <p:nvPr/>
        </p:nvSpPr>
        <p:spPr>
          <a:xfrm>
            <a:off x="5950225" y="737576"/>
            <a:ext cx="1657134" cy="2213964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A30DFC-0C21-BCC3-87B6-7528059778B5}"/>
              </a:ext>
            </a:extLst>
          </p:cNvPr>
          <p:cNvSpPr txBox="1"/>
          <p:nvPr/>
        </p:nvSpPr>
        <p:spPr>
          <a:xfrm rot="16200000">
            <a:off x="6182773" y="1549702"/>
            <a:ext cx="1139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entury Gothic" panose="020B0502020202020204" pitchFamily="34" charset="0"/>
              </a:rPr>
              <a:t>Anchor onboarding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2F3F00F-046D-4D51-04F7-83ADE220F524}"/>
              </a:ext>
            </a:extLst>
          </p:cNvPr>
          <p:cNvSpPr/>
          <p:nvPr/>
        </p:nvSpPr>
        <p:spPr>
          <a:xfrm>
            <a:off x="5995641" y="2996028"/>
            <a:ext cx="1657134" cy="1226780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84E5E9-EF1B-64D6-114E-09C6CA2B24B9}"/>
              </a:ext>
            </a:extLst>
          </p:cNvPr>
          <p:cNvSpPr txBox="1"/>
          <p:nvPr/>
        </p:nvSpPr>
        <p:spPr>
          <a:xfrm rot="16200000">
            <a:off x="6254364" y="3333354"/>
            <a:ext cx="1139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entury Gothic" panose="020B0502020202020204" pitchFamily="34" charset="0"/>
              </a:rPr>
              <a:t>Anchor Setup on LMS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352A5E-9022-5925-D33C-820AAC31F86F}"/>
              </a:ext>
            </a:extLst>
          </p:cNvPr>
          <p:cNvSpPr/>
          <p:nvPr/>
        </p:nvSpPr>
        <p:spPr>
          <a:xfrm>
            <a:off x="1951384" y="4510469"/>
            <a:ext cx="3995531" cy="15493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C199754B-D708-46DE-94DA-B48BF28EE221}"/>
              </a:ext>
            </a:extLst>
          </p:cNvPr>
          <p:cNvSpPr/>
          <p:nvPr/>
        </p:nvSpPr>
        <p:spPr>
          <a:xfrm>
            <a:off x="5995641" y="4510468"/>
            <a:ext cx="1657134" cy="1492763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entury Gothic" panose="020B0502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ED4455-4885-BAB5-52D7-86174C8151E8}"/>
              </a:ext>
            </a:extLst>
          </p:cNvPr>
          <p:cNvSpPr txBox="1"/>
          <p:nvPr/>
        </p:nvSpPr>
        <p:spPr>
          <a:xfrm rot="16200000">
            <a:off x="6183364" y="4874314"/>
            <a:ext cx="1281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entury Gothic" panose="020B0502020202020204" pitchFamily="34" charset="0"/>
              </a:rPr>
              <a:t>Digital Borrowing &amp;Utilization of </a:t>
            </a:r>
            <a:r>
              <a:rPr lang="en-US" sz="1000" dirty="0" err="1">
                <a:latin typeface="Century Gothic" panose="020B0502020202020204" pitchFamily="34" charset="0"/>
              </a:rPr>
              <a:t>Lilmits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6C03902-1739-C048-0398-257DF6E18833}"/>
              </a:ext>
            </a:extLst>
          </p:cNvPr>
          <p:cNvSpPr txBox="1">
            <a:spLocks/>
          </p:cNvSpPr>
          <p:nvPr/>
        </p:nvSpPr>
        <p:spPr>
          <a:xfrm>
            <a:off x="2186608" y="4727714"/>
            <a:ext cx="3617843" cy="32543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>
                <a:latin typeface="Century Gothic" panose="020B0502020202020204" pitchFamily="34" charset="0"/>
              </a:rPr>
              <a:t>Onboard Retailers [borrower] under the anchor on BOOSTA –Ecosystem CPA &amp; RM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469BC3B-FBB7-CAC1-4419-9F8E712D5CE3}"/>
              </a:ext>
            </a:extLst>
          </p:cNvPr>
          <p:cNvSpPr txBox="1">
            <a:spLocks/>
          </p:cNvSpPr>
          <p:nvPr/>
        </p:nvSpPr>
        <p:spPr>
          <a:xfrm>
            <a:off x="2179981" y="5378586"/>
            <a:ext cx="3617843" cy="32543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>
                <a:latin typeface="Century Gothic" panose="020B0502020202020204" pitchFamily="34" charset="0"/>
              </a:rPr>
              <a:t>Monitor borrowing performance – RM, BM ,CPA &amp; collections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DC219E-2B7D-CDEE-3687-7130741ADF3D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3988904" y="1035087"/>
            <a:ext cx="0" cy="316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48C602-4AA1-86E2-FE59-E2054B796CF4}"/>
              </a:ext>
            </a:extLst>
          </p:cNvPr>
          <p:cNvCxnSpPr/>
          <p:nvPr/>
        </p:nvCxnSpPr>
        <p:spPr>
          <a:xfrm>
            <a:off x="3975653" y="1677344"/>
            <a:ext cx="0" cy="316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697BD2-F1E0-481A-BE51-7FD83ACE7312}"/>
              </a:ext>
            </a:extLst>
          </p:cNvPr>
          <p:cNvCxnSpPr/>
          <p:nvPr/>
        </p:nvCxnSpPr>
        <p:spPr>
          <a:xfrm>
            <a:off x="3969028" y="2319601"/>
            <a:ext cx="0" cy="316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232110-1A4B-B5BE-2836-427EFF3A92E7}"/>
              </a:ext>
            </a:extLst>
          </p:cNvPr>
          <p:cNvCxnSpPr/>
          <p:nvPr/>
        </p:nvCxnSpPr>
        <p:spPr>
          <a:xfrm>
            <a:off x="3949150" y="2951539"/>
            <a:ext cx="0" cy="316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710CB6-724A-3178-8497-78ECF577A0B1}"/>
              </a:ext>
            </a:extLst>
          </p:cNvPr>
          <p:cNvCxnSpPr/>
          <p:nvPr/>
        </p:nvCxnSpPr>
        <p:spPr>
          <a:xfrm>
            <a:off x="3949150" y="3590868"/>
            <a:ext cx="0" cy="316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61CF45-9E20-2FE6-A285-0F105772E75E}"/>
              </a:ext>
            </a:extLst>
          </p:cNvPr>
          <p:cNvCxnSpPr/>
          <p:nvPr/>
        </p:nvCxnSpPr>
        <p:spPr>
          <a:xfrm>
            <a:off x="3982282" y="5053150"/>
            <a:ext cx="0" cy="316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45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a28e8b9-ea23-417c-b7c9-7d38478b2a89}" enabled="0" method="" siteId="{6a28e8b9-ea23-417c-b7c9-7d38478b2a8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117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Credit Appraisal to onboard anchor – RM Includes Terms e.g. tenor, pricing, overall limit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Githaka</dc:creator>
  <cp:lastModifiedBy>Peter Githaka</cp:lastModifiedBy>
  <cp:revision>2</cp:revision>
  <dcterms:created xsi:type="dcterms:W3CDTF">2025-08-07T13:04:59Z</dcterms:created>
  <dcterms:modified xsi:type="dcterms:W3CDTF">2025-11-12T05:47:49Z</dcterms:modified>
</cp:coreProperties>
</file>